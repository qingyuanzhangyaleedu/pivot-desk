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f50a982f24986" /><Relationship Type="http://schemas.openxmlformats.org/officeDocument/2006/relationships/extended-properties" Target="/docProps/app.xml" Id="Re6345a006317499f" /><Relationship Type="http://schemas.openxmlformats.org/officeDocument/2006/relationships/officeDocument" Target="/ppt/presentation.xml" Id="Rcdefc266553d45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0e463319894dd8"/>
  </p:sldMasterIdLst>
  <p:notesMasterIdLst>
    <p:notesMasterId xmlns:r="http://schemas.openxmlformats.org/officeDocument/2006/relationships" r:id="R4bc8bee5aa1444e2"/>
  </p:notesMasterIdLst>
  <p:sldIdLst>
    <p:sldId xmlns:r="http://schemas.openxmlformats.org/officeDocument/2006/relationships" id="256" r:id="R973db82d998548d5"/>
    <p:sldId xmlns:r="http://schemas.openxmlformats.org/officeDocument/2006/relationships" id="257" r:id="Rabe287055246499c"/>
    <p:sldId xmlns:r="http://schemas.openxmlformats.org/officeDocument/2006/relationships" id="258" r:id="R6589b90db74d44ae"/>
    <p:sldId xmlns:r="http://schemas.openxmlformats.org/officeDocument/2006/relationships" id="259" r:id="R44bb2e7908224478"/>
    <p:sldId xmlns:r="http://schemas.openxmlformats.org/officeDocument/2006/relationships" id="260" r:id="R80595a09784e42b4"/>
    <p:sldId xmlns:r="http://schemas.openxmlformats.org/officeDocument/2006/relationships" id="261" r:id="R8c3248ab1f4b4c6d"/>
    <p:sldId xmlns:r="http://schemas.openxmlformats.org/officeDocument/2006/relationships" id="262" r:id="R920387bffacc420e"/>
    <p:sldId xmlns:r="http://schemas.openxmlformats.org/officeDocument/2006/relationships" id="263" r:id="R2024102130fb4ba9"/>
    <p:sldId xmlns:r="http://schemas.openxmlformats.org/officeDocument/2006/relationships" id="264" r:id="R9fcb62bc9c1849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64c19038854de4" /><Relationship Type="http://schemas.openxmlformats.org/officeDocument/2006/relationships/slideMaster" Target="/ppt/slideMasters/slideMaster1.xml" Id="R8a0e463319894dd8" /><Relationship Type="http://schemas.openxmlformats.org/officeDocument/2006/relationships/notesMaster" Target="/ppt/notesMasters/notesMaster1.xml" Id="R4bc8bee5aa1444e2" /><Relationship Type="http://schemas.openxmlformats.org/officeDocument/2006/relationships/presProps" Target="/ppt/presProps.xml" Id="R043775bf38814d82" /><Relationship Type="http://schemas.openxmlformats.org/officeDocument/2006/relationships/tableStyles" Target="/ppt/tableStyles.xml" Id="R418cff677c6648bf" /><Relationship Type="http://schemas.openxmlformats.org/officeDocument/2006/relationships/slide" Target="/ppt/slides/slide1.xml" Id="R973db82d998548d5" /><Relationship Type="http://schemas.openxmlformats.org/officeDocument/2006/relationships/slide" Target="/ppt/slides/slide2.xml" Id="Rabe287055246499c" /><Relationship Type="http://schemas.openxmlformats.org/officeDocument/2006/relationships/slide" Target="/ppt/slides/slide3.xml" Id="R6589b90db74d44ae" /><Relationship Type="http://schemas.openxmlformats.org/officeDocument/2006/relationships/slide" Target="/ppt/slides/slide4.xml" Id="R44bb2e7908224478" /><Relationship Type="http://schemas.openxmlformats.org/officeDocument/2006/relationships/slide" Target="/ppt/slides/slide5.xml" Id="R80595a09784e42b4" /><Relationship Type="http://schemas.openxmlformats.org/officeDocument/2006/relationships/slide" Target="/ppt/slides/slide6.xml" Id="R8c3248ab1f4b4c6d" /><Relationship Type="http://schemas.openxmlformats.org/officeDocument/2006/relationships/slide" Target="/ppt/slides/slide7.xml" Id="R920387bffacc420e" /><Relationship Type="http://schemas.openxmlformats.org/officeDocument/2006/relationships/slide" Target="/ppt/slides/slide8.xml" Id="R2024102130fb4ba9" /><Relationship Type="http://schemas.openxmlformats.org/officeDocument/2006/relationships/slide" Target="/ppt/slides/slide9.xml" Id="R9fcb62bc9c1849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23defc7fc44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e129b27cd04ff5" /><Relationship Type="http://schemas.openxmlformats.org/officeDocument/2006/relationships/notesMaster" Target="/ppt/notesMasters/notesMaster1.xml" Id="Re3ca493813b647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79938852934d53" /><Relationship Type="http://schemas.openxmlformats.org/officeDocument/2006/relationships/notesMaster" Target="/ppt/notesMasters/notesMaster1.xml" Id="R13ad692f1f0244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b733240ded44ec" /><Relationship Type="http://schemas.openxmlformats.org/officeDocument/2006/relationships/notesMaster" Target="/ppt/notesMasters/notesMaster1.xml" Id="R918f6e32698640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709c94e614fe6" /><Relationship Type="http://schemas.openxmlformats.org/officeDocument/2006/relationships/notesMaster" Target="/ppt/notesMasters/notesMaster1.xml" Id="Re02ec1dff8d346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5c5ba701f146dd" /><Relationship Type="http://schemas.openxmlformats.org/officeDocument/2006/relationships/notesMaster" Target="/ppt/notesMasters/notesMaster1.xml" Id="Rad323b18008b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50acd216f1483d" /><Relationship Type="http://schemas.openxmlformats.org/officeDocument/2006/relationships/notesMaster" Target="/ppt/notesMasters/notesMaster1.xml" Id="R7b702198ffeb4e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63eee1461444db" /><Relationship Type="http://schemas.openxmlformats.org/officeDocument/2006/relationships/notesMaster" Target="/ppt/notesMasters/notesMaster1.xml" Id="R7c3620ff80ae48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cef769ee3a49c3" /><Relationship Type="http://schemas.openxmlformats.org/officeDocument/2006/relationships/notesMaster" Target="/ppt/notesMasters/notesMaster1.xml" Id="R75684a33fba046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70bf00a1c84bd5" /><Relationship Type="http://schemas.openxmlformats.org/officeDocument/2006/relationships/notesMaster" Target="/ppt/notesMasters/notesMaster1.xml" Id="R6e698ad58d9640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companion to the required nine-slide reveal.js deck. Prepared October 25, 2026. Source: report.html and output/harness.md. No personal resume contents in this deck. Publication remains on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the project owner’s recorded request in AI_prompts.md. No quantified human time saving has been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sources: https://help.simplify.jobs/en/help/articles/1749022-install-and-set-up-copilot and https://www.tealhq.com/tools/job-tracker . Reviewed October 25, 2026. Source checks: output/evidence/readiness_benchmark.json. Screenshot: output/screenshots/application-checks.png.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backend/agent.py, backend/models.py and both backend/prompts/*.md files. Reader output is a draft; human confirmation occurs before the selected-role analyst. The analyst must call get_candidate_evidence and get_job_evidence. Model gpt-6-astra. The course-key restriction is disclosed on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output/evidence/live_runs.json. Fictional Avery Morgan profile and real Heartflow Manager, Corporate Strategy — MBA Grad, Summer 2027 posting, https://job-boards.greenhouse.io/heartflowinc/jobs/6218422004 . Source snapshot checked October 25, 2026; availability may change. Score is overlap, not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output/evidence/live_runs.json and cost_comparison.json. One controlled comparison. Public standard Astra rates: $10/M input, $1/M cached input, $50/M output, checked October 25, 2026, https://developers.openai.com/api/docs/models/gpt-6-astra . Not the provider invoice. Monthly assumption: two resume extractions plus sixteen paid reviews, 20% repeated-result cache hits among twenty requested reviews.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output/evidence/browser_checks.json, form_regression.json, injection_attempt_1.json and injection_test.json. The image shows the fictional demo, not the owner’s resume. One completed injection case passed; the first provider failure remains inconclusive.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output/evidence/private_resume_live_check.json, search_race_before.json and search_race_regression.json. The owner explicitly allowed AI processing while keeping publication on hold. The reader extracted 13 facts; all exact quotes were validated and the assistant reviewed them. This is not a human usability trial. A search race initially selected a different Heartflow role; that paid review is retained. The request-generation guard and loading interlock now pass a controlled browser regression. No private fact text or contact details are included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docs/user_trial.md, output/submission_checklist.md, README.md and the supplied course brief. A timed human trial, authenticated Workday form validation and publication remain uncompleted. The user requested Astra with Portkey; the course brief allows only Luna on its course key, or another model on a personal paid account. Do not imply that disclosure alone makes the configuration compliant.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7c241f4ef42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1b62867c747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937ff3f0f46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14fa4fb934b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1cac9d3f04c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22cfde20c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10D946-CED4-4D83-8262-637504A33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CB5B9D-43AA-40D4-8286-999125A95C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B37105-F928-478B-A9CF-D3C27E2592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611848-5ED9-4D2D-9022-14547DADC8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6F56AD-03DE-440C-B635-AA5AA9D239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EFDD92-9134-4B5A-87D7-3D0E9B96E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F62A2A-FEAA-41E1-994A-536F5D722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CC106D-7F06-4466-83F7-9204E8BE3B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00638A-24C0-4781-8550-4C9EBD141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B463D-8D5C-48D2-AD06-5A91E54AE2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029e3618f84a2f" /><Relationship Type="http://schemas.openxmlformats.org/officeDocument/2006/relationships/slideLayout" Target="/ppt/slideLayouts/slideLayout1.xml" Id="R9154fde2f3c34bb0" /><Relationship Type="http://schemas.openxmlformats.org/officeDocument/2006/relationships/slideLayout" Target="/ppt/slideLayouts/slideLayout2.xml" Id="R8a294f384b2a46ad" /><Relationship Type="http://schemas.openxmlformats.org/officeDocument/2006/relationships/slideLayout" Target="/ppt/slideLayouts/slideLayout3.xml" Id="R474645ad0ac54d09" /><Relationship Type="http://schemas.openxmlformats.org/officeDocument/2006/relationships/slideLayout" Target="/ppt/slideLayouts/slideLayout4.xml" Id="R77c15c6c599f4f02" /><Relationship Type="http://schemas.openxmlformats.org/officeDocument/2006/relationships/slideLayout" Target="/ppt/slideLayouts/slideLayout5.xml" Id="R255feb2cc21c49fe" /><Relationship Type="http://schemas.openxmlformats.org/officeDocument/2006/relationships/slideLayout" Target="/ppt/slideLayouts/slideLayout6.xml" Id="R832a815c7d3646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54fde2f3c34bb0"/>
    <p:sldLayoutId xmlns:r="http://schemas.openxmlformats.org/officeDocument/2006/relationships" id="2147483650" r:id="R8a294f384b2a46ad"/>
    <p:sldLayoutId xmlns:r="http://schemas.openxmlformats.org/officeDocument/2006/relationships" id="2147483651" r:id="R474645ad0ac54d09"/>
    <p:sldLayoutId xmlns:r="http://schemas.openxmlformats.org/officeDocument/2006/relationships" id="2147483652" r:id="R77c15c6c599f4f02"/>
    <p:sldLayoutId xmlns:r="http://schemas.openxmlformats.org/officeDocument/2006/relationships" id="2147483653" r:id="R255feb2cc21c49fe"/>
    <p:sldLayoutId xmlns:r="http://schemas.openxmlformats.org/officeDocument/2006/relationships" id="2147483654" r:id="R832a815c7d3646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5cb7acb5f4bae" /><Relationship Type="http://schemas.openxmlformats.org/officeDocument/2006/relationships/notesSlide" Target="/ppt/notesSlides/notesSlide1.xml" Id="Ra236f6d42b0441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3017907ce475b" /><Relationship Type="http://schemas.openxmlformats.org/officeDocument/2006/relationships/notesSlide" Target="/ppt/notesSlides/notesSlide2.xml" Id="Rcf7ca6f3bf564e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bc36128884981" /><Relationship Type="http://schemas.openxmlformats.org/officeDocument/2006/relationships/image" Target="/ppt/media/image.png" Id="Ra333fb926e4f46fa" /><Relationship Type="http://schemas.openxmlformats.org/officeDocument/2006/relationships/notesSlide" Target="/ppt/notesSlides/notesSlide3.xml" Id="Rfb807e4e43b4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73a36f7d44e9d" /><Relationship Type="http://schemas.openxmlformats.org/officeDocument/2006/relationships/notesSlide" Target="/ppt/notesSlides/notesSlide4.xml" Id="R09c64bc81ea74c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a189116aa473d" /><Relationship Type="http://schemas.openxmlformats.org/officeDocument/2006/relationships/notesSlide" Target="/ppt/notesSlides/notesSlide5.xml" Id="R5429371d02fe4e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015017321412a" /><Relationship Type="http://schemas.openxmlformats.org/officeDocument/2006/relationships/notesSlide" Target="/ppt/notesSlides/notesSlide6.xml" Id="R9c60ed2c5e2345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3407064ad43df" /><Relationship Type="http://schemas.openxmlformats.org/officeDocument/2006/relationships/image" Target="/ppt/media/image2.png" Id="R0fb549038aac4a6c" /><Relationship Type="http://schemas.openxmlformats.org/officeDocument/2006/relationships/notesSlide" Target="/ppt/notesSlides/notesSlide7.xml" Id="R8358644f0ae841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bd48feeae4613" /><Relationship Type="http://schemas.openxmlformats.org/officeDocument/2006/relationships/notesSlide" Target="/ppt/notesSlides/notesSlide8.xml" Id="R3e95d3c45ed14a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d58fca43e4189" /><Relationship Type="http://schemas.openxmlformats.org/officeDocument/2006/relationships/notesSlide" Target="/ppt/notesSlides/notesSlide9.xml" Id="R52243ad7b1254a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5AA3A-2254-49A4-B344-60EE499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Pivot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B26B8-E7DE-49B7-A666-AF599B57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defPPr>
            <a:lvl1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1pPr>
            <a:lvl2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2pPr>
            <a:lvl3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3pPr>
            <a:lvl4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4pPr>
            <a:lvl5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5pPr>
            <a:lvl6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6pPr>
            <a:lvl7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7pPr>
            <a:lvl8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8pPr>
            <a:lvl9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F8F0F4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F8F0F4"/>
                </a:solidFill>
                <a:latin typeface="Georgia"/>
                <a:ea typeface="Georgia"/>
                <a:cs typeface="Georgia"/>
              </a:rPr>
              <a:t>MBA recruiting with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3ED01-FAF4-413A-B6EB-EED4ADD5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Application preparation with a final human say.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00E7A-EE2C-45A8-ABCC-D404D91D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Qingyuan Zhang</a:t>
            </a:r>
          </a:p>
          <a:p xmlns:a="http://schemas.openxmlformats.org/drawingml/2006/main">
            <a:pPr>
              <a:defRPr sz="21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AI Foundations for Managers · October 25,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FFA1A-741B-431E-BD91-E939B30D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Working local prototype · Publication and a timed real-user trial remain pending</a:t>
            </a:r>
          </a:p>
        </p:txBody>
      </p:sp>
    </p:spTree>
    <p:extLst>
      <p:ext uri="{BB962C8B-B14F-4D97-AF65-F5344CB8AC3E}">
        <p14:creationId xmlns:p14="http://schemas.microsoft.com/office/powerpoint/2010/main" val="878006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CCE93-AFE5-490B-91D6-71797DDC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A career pivot creates repeated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B17FC-E18F-47DC-A280-589DCA5A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Choose the right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E9A5F-3AC4-498E-B6EA-49DEA94E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West Coast healthcare and technology.</a:t>
            </a:r>
          </a:p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Exclude investment-banking roles.</a:t>
            </a:r>
          </a:p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Check degree timing and real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31E09-4A8A-447C-A481-47201259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4307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Prepare the same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B0CC1-FF8C-4F02-A505-46FEFF07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50101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Work history, education and languages.</a:t>
            </a:r>
          </a:p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Review once and reuse.</a:t>
            </a:r>
          </a:p>
          <a:p xmlns:a="http://schemas.openxmlformats.org/drawingml/2006/main">
            <a:pPr>
              <a:defRPr sz="24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Keep legal acceptance and submission manual.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53B32-B905-450F-9097-9871D93A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The applicant described this problem directly; the project does not invent hours saved.</a:t>
            </a:r>
          </a:p>
        </p:txBody>
      </p:sp>
    </p:spTree>
    <p:extLst>
      <p:ext uri="{BB962C8B-B14F-4D97-AF65-F5344CB8AC3E}">
        <p14:creationId xmlns:p14="http://schemas.microsoft.com/office/powerpoint/2010/main" val="34588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73451-D53C-4C4D-A099-F139ED8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The proposed contribution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3EC5C-601C-4B7D-80F9-54DA5652A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3fb926e4f46fa"/>
          <a:stretch xmlns:a="http://schemas.openxmlformats.org/drawingml/2006/main"/>
        </p:blipFill>
        <p:spPr>
          <a:xfrm xmlns:a="http://schemas.openxmlformats.org/drawingml/2006/main">
            <a:off x="1516637" y="1609725"/>
            <a:ext cx="2567426" cy="41814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3B198-8945-41E3-90B0-57A15963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592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Trace the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8765D-66B3-4466-B5D2-DE862858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59245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Reviewed resume facts</a:t>
            </a:r>
          </a:p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Exact employer quotations</a:t>
            </a:r>
          </a:p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Explicit gaps beside the overlap score</a:t>
            </a:r>
          </a:p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A controlled review-before-fill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56CAF-2537-46E2-9E24-10C704D0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Simplify already offers autofill; Teal already offers tracking. Superiority has not been proven.</a:t>
            </a:r>
          </a:p>
        </p:txBody>
      </p:sp>
    </p:spTree>
    <p:extLst>
      <p:ext uri="{BB962C8B-B14F-4D97-AF65-F5344CB8AC3E}">
        <p14:creationId xmlns:p14="http://schemas.microsoft.com/office/powerpoint/2010/main" val="1843150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2C255-D1D2-41EC-838E-C886166F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Two bounded specialists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3BE7C-3DD7-47D1-8512-A9050DAA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Resume reader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0EAE8-F45C-45B4-9700-E41C3C92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Text → typed facts</a:t>
            </a:r>
          </a:p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Exact source excerpts</a:t>
            </a:r>
          </a:p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No action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505F7-0C8D-4542-88EF-13C42D7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D13F8-142F-42B1-BD11-21B3A48E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2A8FE-3352-4D7B-AC71-195A5ECA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76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Correct facts</a:t>
            </a:r>
          </a:p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Confirm the profile</a:t>
            </a:r>
          </a:p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Choose a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E33CD-9B85-4122-9593-6557C164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67DED-6B33-4D81-BCFD-82BDA949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526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Evidence analyst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D20D9-D7B8-488E-8C0F-337ABE94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2914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Two read-only tools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Fact-to-source links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Gaps and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0F52D-0BEF-4A43-833D-89133E1B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Search, scoring, saving and form filling use ordinary code. No autonomous submission or email.</a:t>
            </a:r>
          </a:p>
        </p:txBody>
      </p:sp>
    </p:spTree>
    <p:extLst>
      <p:ext uri="{BB962C8B-B14F-4D97-AF65-F5344CB8AC3E}">
        <p14:creationId xmlns:p14="http://schemas.microsoft.com/office/powerpoint/2010/main" val="1738066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447CC-AA58-4655-B99A-030915F2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A real role, an honest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18969-DF7C-4BB4-8968-33D67BE9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629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Actual assessment, excerpt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5E25A-0605-4155-92CC-5C3736A3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4768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“Year-only employment dates suggest roughly five years of analytical experience; exact qualifying tenure remains uncertain.”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EF166-C439-411F-A383-9BEF72B5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629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The complete response is in the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F76B4-2BAD-4FE1-9C23-CE6B3D3B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526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93 / 100 overlap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B1BB3-2C4B-486B-96CE-EF5DE4C4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76525"/>
            <a:ext cx="471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Research and financial modeling support the pivot.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8EEB4-BC87-428E-B69E-6ED97244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14775"/>
            <a:ext cx="4714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Still check: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MBA completion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Exact experience months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On-site work and travel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CF66D-B3BD-411F-9F76-A7831903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Fictional applicant, real posting and real AI run. The assessment challenged the score.</a:t>
            </a:r>
          </a:p>
        </p:txBody>
      </p:sp>
    </p:spTree>
    <p:extLst>
      <p:ext uri="{BB962C8B-B14F-4D97-AF65-F5344CB8AC3E}">
        <p14:creationId xmlns:p14="http://schemas.microsoft.com/office/powerpoint/2010/main" val="2001340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F1490-DDFD-4596-B582-F2C4626D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Costs and a rejected shortcut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BF816-C96C-420B-BBB3-26CC0D5D6A39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4162425"/>
                <a:gridCol w="247650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Input / output tokens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Est. USD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Full 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3,225 / 892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$0.07685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Truncated 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2,774 / 904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$0.07294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Identical-result cache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0AB93-F73E-4FD3-8133-1AB18CF3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5.09% cheaper lost a later requirement.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09035-B98D-4E06-B608-C06F1B4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Full text stays the default.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E0F1E-EA4F-4669-8E73-B31E394F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Assumed monthly model cost: $1.30/user; $130 at 100 users; $13,010 at 10,000. Hosting excluded.</a:t>
            </a:r>
          </a:p>
        </p:txBody>
      </p:sp>
    </p:spTree>
    <p:extLst>
      <p:ext uri="{BB962C8B-B14F-4D97-AF65-F5344CB8AC3E}">
        <p14:creationId xmlns:p14="http://schemas.microsoft.com/office/powerpoint/2010/main" val="1965453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14EBE-634E-421D-8FC1-0C6ED99F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Review is a real boundary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56713-C9F9-4282-9D81-26CBD1AB40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549038aac4a6c"/>
          <a:stretch xmlns:a="http://schemas.openxmlformats.org/drawingml/2006/main"/>
        </p:blipFill>
        <p:spPr>
          <a:xfrm xmlns:a="http://schemas.openxmlformats.org/drawingml/2006/main">
            <a:off x="681990" y="1562100"/>
            <a:ext cx="5760720" cy="42005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663BE-D137-43BE-AFA3-A6BE4E8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4476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13 fields filled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56357-AECF-40F9-A1F1-0B235BBD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447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Fictional demo: contact, work history, education and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8C4B4-F28D-483A-A377-7D601C2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005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0 agreements accepted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365E4-0E30-4592-84E7-59C5C9F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72050"/>
            <a:ext cx="4476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No signature.</a:t>
            </a:r>
          </a:p>
          <a:p xmlns:a="http://schemas.openxmlformats.org/drawingml/2006/main">
            <a:pPr>
              <a:defRPr sz="2175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No application submitted.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98E21-7AB8-41EC-AF0B-03DA3911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Unknown dates, legal-name questions, sensitive answers and unsupported controls stay manual.</a:t>
            </a:r>
          </a:p>
        </p:txBody>
      </p:sp>
    </p:spTree>
    <p:extLst>
      <p:ext uri="{BB962C8B-B14F-4D97-AF65-F5344CB8AC3E}">
        <p14:creationId xmlns:p14="http://schemas.microsoft.com/office/powerpoint/2010/main" val="1253465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A887E-E655-429A-BBEE-C1E54E5C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Live test with a real resume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91C13-8439-45E2-B2E6-35381CBCCC1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67375"/>
                <a:gridCol w="2924175"/>
                <a:gridCol w="2381250"/>
              </a:tblGrid>
              <a:tr h="6191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Live run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Input / output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FABC8"/>
                          </a:solidFill>
                          <a:latin typeface="Arial"/>
                          <a:ea typeface="Arial"/>
                          <a:cs typeface="Arial"/>
                        </a:rPr>
                        <a:t>Est. USD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T w="9525">
                      <a:solidFill>
                        <a:srgbClr val="705364"/>
                      </a:solidFill>
                      <a:prstDash val="solid"/>
                    </a:lnT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422F3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Resume reader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1,416 / 1,750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$0.10166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Heartflow marketing (unplanned)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4,221 / 978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$0.09111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Heartflow corporate strategy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4,392 / 1,004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$0.09412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Stripe strategy / analytics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705364"/>
                      </a:solidFill>
                      <a:prstDash val="solid"/>
                    </a:lnL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3,535 / 926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F8F0F4"/>
                          </a:solidFill>
                          <a:latin typeface="Arial"/>
                          <a:ea typeface="Arial"/>
                          <a:cs typeface="Arial"/>
                        </a:rPr>
                        <a:t>$0.08165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705364"/>
                      </a:solidFill>
                      <a:prstDash val="solid"/>
                    </a:lnR>
                    <a:lnB w="9525">
                      <a:solidFill>
                        <a:srgbClr val="705364"/>
                      </a:solidFill>
                      <a:prstDash val="solid"/>
                    </a:lnB>
                    <a:solidFill>
                      <a:srgbClr val="241D25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B014E-720C-41E6-AE34-D26651C8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13 supported facts. Graduation timing flagged.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567DD-CEFB-49C0-9AA1-2257B115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The role-selection race is fixed; three repeat reviews hit the cache.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0A6EC-5862-4629-A166-065C7C65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Estimated total: $0.36854, not the provider invoice. Personal details and detailed outputs stay private.</a:t>
            </a:r>
          </a:p>
        </p:txBody>
      </p:sp>
    </p:spTree>
    <p:extLst>
      <p:ext uri="{BB962C8B-B14F-4D97-AF65-F5344CB8AC3E}">
        <p14:creationId xmlns:p14="http://schemas.microsoft.com/office/powerpoint/2010/main" val="1151502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EDEF8-1F1C-4C46-BEEE-96EBE86F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defPPr>
            <a:lvl1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1pPr>
            <a:lvl2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2pPr>
            <a:lvl3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3pPr>
            <a:lvl4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4pPr>
            <a:lvl5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5pPr>
            <a:lvl6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6pPr>
            <a:lvl7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7pPr>
            <a:lvl8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8pPr>
            <a:lvl9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EFABC8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EFABC8"/>
                </a:solidFill>
                <a:latin typeface="Georgia"/>
                <a:ea typeface="Georgia"/>
                <a:cs typeface="Georgia"/>
              </a:rPr>
              <a:t>The next evidence to 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936AB-AB9D-4832-B8DA-FB30FF6D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156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01   Observe a real applicant and measure the task.</a:t>
            </a:r>
          </a:p>
          <a:p xmlns:a="http://schemas.openxmlformats.org/drawingml/2006/main">
            <a: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02   Verify one permitted employer form before submission.</a:t>
            </a:r>
          </a:p>
          <a:p xmlns:a="http://schemas.openxmlformats.org/drawingml/2006/main">
            <a: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03   Improve matching with labeled near-miss roles.</a:t>
            </a:r>
          </a:p>
          <a:p xmlns:a="http://schemas.openxmlformats.org/drawingml/2006/main">
            <a:pPr>
              <a:defRPr sz="2550" b="0">
                <a:solidFill>
                  <a:srgbClr val="F8F0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8F0F4"/>
                </a:solidFill>
                <a:latin typeface="Arial"/>
                <a:ea typeface="Arial"/>
                <a:cs typeface="Arial"/>
              </a:rPr>
              <a:t>04   Confirm the allowed account; publish reviewed source.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822E8-CB62-4378-90E7-9B9D4AE1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1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FABC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FABC8"/>
                </a:solidFill>
                <a:latin typeface="Arial"/>
                <a:ea typeface="Arial"/>
                <a:cs typeface="Arial"/>
              </a:rPr>
              <a:t>Local materials are prepared. Nothing is published.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39BAF-0742-42B2-BDEA-2FB119DA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CB8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CB8C5"/>
                </a:solidFill>
                <a:latin typeface="Arial"/>
                <a:ea typeface="Arial"/>
                <a:cs typeface="Arial"/>
              </a:rPr>
              <a:t>Astra is user-selected; the brief permits only Luna on the course key. Account permission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855780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2026-10-25T18:51:02.4820000Z</dcterms:created>
  <dcterms:modified xsi:type="dcterms:W3CDTF">2026-10-25T18:51:02.4820000Z</dcterms:modified>
</coreProperties>
</file>