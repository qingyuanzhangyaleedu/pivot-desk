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7183d072d044be" /><Relationship Type="http://schemas.openxmlformats.org/officeDocument/2006/relationships/extended-properties" Target="/docProps/app.xml" Id="R5bb019a0f90d4870" /><Relationship Type="http://schemas.openxmlformats.org/officeDocument/2006/relationships/officeDocument" Target="/ppt/presentation.xml" Id="Ra16b772bcfeb47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eb46d5e27241b6"/>
  </p:sldMasterIdLst>
  <p:notesMasterIdLst>
    <p:notesMasterId xmlns:r="http://schemas.openxmlformats.org/officeDocument/2006/relationships" r:id="Rdfccd39482214193"/>
  </p:notesMasterIdLst>
  <p:sldIdLst>
    <p:sldId xmlns:r="http://schemas.openxmlformats.org/officeDocument/2006/relationships" id="256" r:id="R105aaa2c47334ae8"/>
    <p:sldId xmlns:r="http://schemas.openxmlformats.org/officeDocument/2006/relationships" id="257" r:id="R3deed8bb463348d9"/>
    <p:sldId xmlns:r="http://schemas.openxmlformats.org/officeDocument/2006/relationships" id="258" r:id="Rc31c695427a14c8b"/>
    <p:sldId xmlns:r="http://schemas.openxmlformats.org/officeDocument/2006/relationships" id="259" r:id="Rbaf62024abe2473f"/>
    <p:sldId xmlns:r="http://schemas.openxmlformats.org/officeDocument/2006/relationships" id="260" r:id="R1212501c61154868"/>
    <p:sldId xmlns:r="http://schemas.openxmlformats.org/officeDocument/2006/relationships" id="261" r:id="R35428e4651eb4603"/>
    <p:sldId xmlns:r="http://schemas.openxmlformats.org/officeDocument/2006/relationships" id="262" r:id="R647b1cb92db94003"/>
    <p:sldId xmlns:r="http://schemas.openxmlformats.org/officeDocument/2006/relationships" id="263" r:id="R7c14c5573d634638"/>
    <p:sldId xmlns:r="http://schemas.openxmlformats.org/officeDocument/2006/relationships" id="264" r:id="Rb34a902b02f148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4f374a8ede4671" /><Relationship Type="http://schemas.openxmlformats.org/officeDocument/2006/relationships/slideMaster" Target="/ppt/slideMasters/slideMaster1.xml" Id="R3beb46d5e27241b6" /><Relationship Type="http://schemas.openxmlformats.org/officeDocument/2006/relationships/notesMaster" Target="/ppt/notesMasters/notesMaster1.xml" Id="Rdfccd39482214193" /><Relationship Type="http://schemas.openxmlformats.org/officeDocument/2006/relationships/presProps" Target="/ppt/presProps.xml" Id="R4ea4e664430042a9" /><Relationship Type="http://schemas.openxmlformats.org/officeDocument/2006/relationships/tableStyles" Target="/ppt/tableStyles.xml" Id="Rf179b40727084d18" /><Relationship Type="http://schemas.openxmlformats.org/officeDocument/2006/relationships/slide" Target="/ppt/slides/slide1.xml" Id="R105aaa2c47334ae8" /><Relationship Type="http://schemas.openxmlformats.org/officeDocument/2006/relationships/slide" Target="/ppt/slides/slide2.xml" Id="R3deed8bb463348d9" /><Relationship Type="http://schemas.openxmlformats.org/officeDocument/2006/relationships/slide" Target="/ppt/slides/slide3.xml" Id="Rc31c695427a14c8b" /><Relationship Type="http://schemas.openxmlformats.org/officeDocument/2006/relationships/slide" Target="/ppt/slides/slide4.xml" Id="Rbaf62024abe2473f" /><Relationship Type="http://schemas.openxmlformats.org/officeDocument/2006/relationships/slide" Target="/ppt/slides/slide5.xml" Id="R1212501c61154868" /><Relationship Type="http://schemas.openxmlformats.org/officeDocument/2006/relationships/slide" Target="/ppt/slides/slide6.xml" Id="R35428e4651eb4603" /><Relationship Type="http://schemas.openxmlformats.org/officeDocument/2006/relationships/slide" Target="/ppt/slides/slide7.xml" Id="R647b1cb92db94003" /><Relationship Type="http://schemas.openxmlformats.org/officeDocument/2006/relationships/slide" Target="/ppt/slides/slide8.xml" Id="R7c14c5573d634638" /><Relationship Type="http://schemas.openxmlformats.org/officeDocument/2006/relationships/slide" Target="/ppt/slides/slide9.xml" Id="Rb34a902b02f148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f7bbad0d4e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a348372bc74570" /><Relationship Type="http://schemas.openxmlformats.org/officeDocument/2006/relationships/notesMaster" Target="/ppt/notesMasters/notesMaster1.xml" Id="Refef1ddf8cdc46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ad6a5770f44bf2" /><Relationship Type="http://schemas.openxmlformats.org/officeDocument/2006/relationships/notesMaster" Target="/ppt/notesMasters/notesMaster1.xml" Id="Re6e4ee57b5d649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9ddad54f9485f" /><Relationship Type="http://schemas.openxmlformats.org/officeDocument/2006/relationships/notesMaster" Target="/ppt/notesMasters/notesMaster1.xml" Id="R069c59a8d1734a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b22b08714f4f00" /><Relationship Type="http://schemas.openxmlformats.org/officeDocument/2006/relationships/notesMaster" Target="/ppt/notesMasters/notesMaster1.xml" Id="Rb245c22b2ad041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4f4c3531cd4097" /><Relationship Type="http://schemas.openxmlformats.org/officeDocument/2006/relationships/notesMaster" Target="/ppt/notesMasters/notesMaster1.xml" Id="R2a639f36bb1f4c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a7b9dd227943ea" /><Relationship Type="http://schemas.openxmlformats.org/officeDocument/2006/relationships/notesMaster" Target="/ppt/notesMasters/notesMaster1.xml" Id="R4559f0ba072b4a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573dfca9724898" /><Relationship Type="http://schemas.openxmlformats.org/officeDocument/2006/relationships/notesMaster" Target="/ppt/notesMasters/notesMaster1.xml" Id="R39f84b8c9e4344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1afb29295c4f92" /><Relationship Type="http://schemas.openxmlformats.org/officeDocument/2006/relationships/notesMaster" Target="/ppt/notesMasters/notesMaster1.xml" Id="R791b7dad655447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83bb570c134848" /><Relationship Type="http://schemas.openxmlformats.org/officeDocument/2006/relationships/notesMaster" Target="/ppt/notesMasters/notesMaster1.xml" Id="R19d82f4541dc43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companion to the required nine-slide reveal.js deck. Prepared October 25, 2026. Source: report.html and output/harness.md. No personal resume contents in this deck. Publication remains on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the project owner’s recorded request in AI_prompts.md. No quantified human time saving has been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sources: https://help.simplify.jobs/en/help/articles/1749022-install-and-set-up-copilot and https://www.tealhq.com/tools/job-tracker . Reviewed October 25, 2026. Source checks: output/evidence/readiness_benchmark.json. Screenshot: output/screenshots/application-checks.png.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backend/agent.py, backend/models.py and both backend/prompts/*.md files. Reader output is a draft; human confirmation occurs before the selected-role analyst. The analyst must call get_candidate_evidence and get_job_evidence. Model gpt-6-astra. The course-key restriction is disclosed on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output/evidence/live_runs.json. Fictional Avery Morgan profile and real Heartflow Manager, Corporate Strategy — MBA Grad, Summer 2027 posting, https://job-boards.greenhouse.io/heartflowinc/jobs/6218422004 . Source snapshot checked October 25, 2026; availability may change. Score is overlap, not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output/evidence/live_runs.json and cost_comparison.json. One controlled comparison. Public standard Astra rates: $10/M input, $1/M cached input, $50/M output, checked October 25, 2026, https://developers.openai.com/api/docs/models/gpt-6-astra . Not the provider invoice. Monthly assumption: two resume extractions plus sixteen paid reviews, 20% repeated-result cache hits among twenty requested reviews.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output/evidence/browser_checks.json, form_regression.json, injection_attempt_1.json and injection_test.json. The image shows the fictional demo, not the owner’s resume. One completed injection case passed; the first provider failure remains inconclusive.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output/evidence/private_resume_local_check.json and form_multilingual_comparison.json. Assistant-operated local PDF parsing, manual transcription and checking of 12 facts; no AI extraction call on this document. Four same-employer positions, three schools and three languages were tested in private. Public evidence is aggregate, and the before/after fixture is fictional. Baseline 29acc13.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docs/user_trial.md, output/submission_checklist.md, README.md and the supplied course brief. A timed human trial, authenticated Workday form validation and publication remain uncompleted. The user requested Astra with Portkey; the course brief allows only Luna on its course key, or another model on a personal paid account. Do not imply that disclosure alone makes the configuration compliant.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fbbcd15494b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7547d9d964e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2e88a304c43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39db975e24e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54fc4f42249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75f4786454b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8A2A3A-C0E0-4101-80AF-9011093BB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F31CA2-0113-453E-9B51-2AD0A0423E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4C9C99-67F7-4791-8770-BAC242C09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83C9FD-B5BB-4D5C-B3ED-A82F0B035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F97063-8E3B-48A0-8152-B2B3180D74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3C9744-2207-4812-87EA-BF18FC973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FB2C6D-CC2A-4F21-893A-9A88147D16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1257F6-DDA4-4227-AB0D-9387DEC196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9361BC-2B8B-4A08-A5A7-13AFFA96F5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C20F5E-6362-4A14-845E-7CFAFE8AD5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b10795d0a64f95" /><Relationship Type="http://schemas.openxmlformats.org/officeDocument/2006/relationships/slideLayout" Target="/ppt/slideLayouts/slideLayout1.xml" Id="R2f60cb9965774e29" /><Relationship Type="http://schemas.openxmlformats.org/officeDocument/2006/relationships/slideLayout" Target="/ppt/slideLayouts/slideLayout2.xml" Id="R882485b92c1c4bce" /><Relationship Type="http://schemas.openxmlformats.org/officeDocument/2006/relationships/slideLayout" Target="/ppt/slideLayouts/slideLayout3.xml" Id="Rc1cae50e1167417e" /><Relationship Type="http://schemas.openxmlformats.org/officeDocument/2006/relationships/slideLayout" Target="/ppt/slideLayouts/slideLayout4.xml" Id="Rc904d147f5044368" /><Relationship Type="http://schemas.openxmlformats.org/officeDocument/2006/relationships/slideLayout" Target="/ppt/slideLayouts/slideLayout5.xml" Id="Rbf63a3be08dd4dbe" /><Relationship Type="http://schemas.openxmlformats.org/officeDocument/2006/relationships/slideLayout" Target="/ppt/slideLayouts/slideLayout6.xml" Id="R4af558282c0a4c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60cb9965774e29"/>
    <p:sldLayoutId xmlns:r="http://schemas.openxmlformats.org/officeDocument/2006/relationships" id="2147483650" r:id="R882485b92c1c4bce"/>
    <p:sldLayoutId xmlns:r="http://schemas.openxmlformats.org/officeDocument/2006/relationships" id="2147483651" r:id="Rc1cae50e1167417e"/>
    <p:sldLayoutId xmlns:r="http://schemas.openxmlformats.org/officeDocument/2006/relationships" id="2147483652" r:id="Rc904d147f5044368"/>
    <p:sldLayoutId xmlns:r="http://schemas.openxmlformats.org/officeDocument/2006/relationships" id="2147483653" r:id="Rbf63a3be08dd4dbe"/>
    <p:sldLayoutId xmlns:r="http://schemas.openxmlformats.org/officeDocument/2006/relationships" id="2147483654" r:id="R4af558282c0a4c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7bafca9eb40b6" /><Relationship Type="http://schemas.openxmlformats.org/officeDocument/2006/relationships/notesSlide" Target="/ppt/notesSlides/notesSlide1.xml" Id="R2c92dce6c5e04e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0d2e0c0b34559" /><Relationship Type="http://schemas.openxmlformats.org/officeDocument/2006/relationships/notesSlide" Target="/ppt/notesSlides/notesSlide2.xml" Id="Rd71c3ca091c045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fcc3cf2d14cfe" /><Relationship Type="http://schemas.openxmlformats.org/officeDocument/2006/relationships/image" Target="/ppt/media/image.png" Id="R23473895908541eb" /><Relationship Type="http://schemas.openxmlformats.org/officeDocument/2006/relationships/notesSlide" Target="/ppt/notesSlides/notesSlide3.xml" Id="R75a02d4b29f846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844f50aec4c5f" /><Relationship Type="http://schemas.openxmlformats.org/officeDocument/2006/relationships/notesSlide" Target="/ppt/notesSlides/notesSlide4.xml" Id="Rec57fa1c55f6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b740c3e3714cb5" /><Relationship Type="http://schemas.openxmlformats.org/officeDocument/2006/relationships/notesSlide" Target="/ppt/notesSlides/notesSlide5.xml" Id="Rec72b86d75754e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1d1fd28e544ba" /><Relationship Type="http://schemas.openxmlformats.org/officeDocument/2006/relationships/notesSlide" Target="/ppt/notesSlides/notesSlide6.xml" Id="Ra26db0b5b6d64b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2479a33f14ed0" /><Relationship Type="http://schemas.openxmlformats.org/officeDocument/2006/relationships/image" Target="/ppt/media/image2.png" Id="R86bcfccb0a074a62" /><Relationship Type="http://schemas.openxmlformats.org/officeDocument/2006/relationships/notesSlide" Target="/ppt/notesSlides/notesSlide7.xml" Id="R6bc25da323904f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b8a176e8b4235" /><Relationship Type="http://schemas.openxmlformats.org/officeDocument/2006/relationships/notesSlide" Target="/ppt/notesSlides/notesSlide8.xml" Id="R4833125506674d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7ac1303454ad3" /><Relationship Type="http://schemas.openxmlformats.org/officeDocument/2006/relationships/notesSlide" Target="/ppt/notesSlides/notesSlide9.xml" Id="R6b3ff4adbec242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02D0E-6AD7-41E0-B13E-43BAFFFA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Pivot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7BAA-9BBF-4A8C-90BC-585FA872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F8F0F4"/>
                </a:solidFill>
                <a:latin typeface="Georgia"/>
                <a:ea typeface="Georgia"/>
                <a:cs typeface="Georgia"/>
              </a:rPr>
              <a:t>MBA recruiting with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356A8-7696-43A1-A31B-DDF25F49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Application preparation with a final human say.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B3CA3-A678-4144-B6C0-92786A46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Qingyuan Zhang</a:t>
            </a:r>
          </a:p>
          <a:p xmlns:a="http://schemas.openxmlformats.org/drawingml/2006/main">
            <a: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AI Foundations for Managers · October 25,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7AB59-2C6B-40B1-8EDB-283AA32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Working local prototype · Publication and a timed real-user trial remain pending</a:t>
            </a:r>
          </a:p>
        </p:txBody>
      </p:sp>
    </p:spTree>
    <p:extLst>
      <p:ext uri="{BB962C8B-B14F-4D97-AF65-F5344CB8AC3E}">
        <p14:creationId xmlns:p14="http://schemas.microsoft.com/office/powerpoint/2010/main" val="1345648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CCC9B-E643-4DF5-A405-9012120C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A career pivot creates repeated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AF437-2E79-4196-8631-B7FEB912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Choose the right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43E16-1AF0-4B96-AF75-28DD897B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West Coast healthcare and technology.</a:t>
            </a:r>
          </a:p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Exclude investment-banking roles.</a:t>
            </a:r>
          </a:p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Check degree timing and real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6B17E-BB0D-4E7A-8DE0-F41B709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430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Prepare the same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80532-1350-4080-B3AE-4747E5B0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50101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Work history, education and languages.</a:t>
            </a:r>
          </a:p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Review once and reuse.</a:t>
            </a:r>
          </a:p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Keep legal acceptance and submission manual.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C3944-AAC8-4707-AFC7-2F883253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The applicant described this problem directly; the project does not invent hours saved.</a:t>
            </a:r>
          </a:p>
        </p:txBody>
      </p:sp>
    </p:spTree>
    <p:extLst>
      <p:ext uri="{BB962C8B-B14F-4D97-AF65-F5344CB8AC3E}">
        <p14:creationId xmlns:p14="http://schemas.microsoft.com/office/powerpoint/2010/main" val="1303261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C6E7A-0304-4E6F-9B38-5964B82C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The proposed contribution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6152D-5EDA-419F-BE36-78520F767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73895908541eb"/>
          <a:stretch xmlns:a="http://schemas.openxmlformats.org/drawingml/2006/main"/>
        </p:blipFill>
        <p:spPr>
          <a:xfrm xmlns:a="http://schemas.openxmlformats.org/drawingml/2006/main">
            <a:off x="1516637" y="1609725"/>
            <a:ext cx="2567426" cy="41814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87405-A9AD-49A1-877B-6DFC9094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592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Trace the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2A298-6E83-46A4-978B-13EF9CB6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59245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Reviewed resume facts</a:t>
            </a:r>
          </a:p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Exact employer quotations</a:t>
            </a:r>
          </a:p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Explicit gaps beside the overlap score</a:t>
            </a:r>
          </a:p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A controlled review-before-fill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138F1-C32D-4ED5-A16F-630977E4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Simplify already offers autofill; Teal already offers tracking. Superiority has not been proven.</a:t>
            </a:r>
          </a:p>
        </p:txBody>
      </p:sp>
    </p:spTree>
    <p:extLst>
      <p:ext uri="{BB962C8B-B14F-4D97-AF65-F5344CB8AC3E}">
        <p14:creationId xmlns:p14="http://schemas.microsoft.com/office/powerpoint/2010/main" val="1759173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1F62D-D7C1-4D7F-8F54-66633A38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Two bounded specialists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E9E80-A12A-41AF-BDD2-AF7D6B8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Resume reader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C3704-1C89-428E-8DE2-2C30BF94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Text → typed facts</a:t>
            </a:r>
          </a:p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Exact source excerpts</a:t>
            </a:r>
          </a:p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No action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C5125-E8A8-491A-B060-73C1CFB9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5C5D0-C9FC-40B6-932A-4DA8455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0385A-C950-4257-81BC-20994F7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76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Correct facts</a:t>
            </a:r>
          </a:p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Confirm the profile</a:t>
            </a:r>
          </a:p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Choose a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33970-3999-45EB-AD53-8711363D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08E3B-7C8B-4488-B3ED-4E7F105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526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Evidence analyst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2C721-197C-4859-A7F4-64BDF3B1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2914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Two read-only tools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Fact-to-source links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Gaps and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497D5-279B-44D1-8AEA-59B34118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Search, scoring, saving and form filling use ordinary code. No autonomous submission or email.</a:t>
            </a:r>
          </a:p>
        </p:txBody>
      </p:sp>
    </p:spTree>
    <p:extLst>
      <p:ext uri="{BB962C8B-B14F-4D97-AF65-F5344CB8AC3E}">
        <p14:creationId xmlns:p14="http://schemas.microsoft.com/office/powerpoint/2010/main" val="548793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9C036-EE64-410F-A9A0-C029A1A2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A real role, an honest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06FBD-9A52-4EC1-8744-6B1106B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629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Actual assessment, excerpt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8B857-D318-4708-BBA5-FD14151E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4768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“Year-only employment dates suggest roughly five years of analytical experience; exact qualifying tenure remains uncertain.”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6C964-76DA-40D6-AE20-2C674FFE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629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The complete response is in the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DEC36-9865-4632-BC64-264B36D7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526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93 / 100 overlap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5879F-6F84-4F93-BDE0-362FFB80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76525"/>
            <a:ext cx="471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Research and financial modeling support the pivot.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F3B47-D9FA-4ADF-A4DE-0CCD4E19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14775"/>
            <a:ext cx="4714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Still check: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MBA completion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Exact experience months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On-site work and travel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D981B-49AE-4988-88B3-EFE59FB7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Fictional applicant, real posting and real AI run. The assessment challenged the score.</a:t>
            </a:r>
          </a:p>
        </p:txBody>
      </p:sp>
    </p:spTree>
    <p:extLst>
      <p:ext uri="{BB962C8B-B14F-4D97-AF65-F5344CB8AC3E}">
        <p14:creationId xmlns:p14="http://schemas.microsoft.com/office/powerpoint/2010/main" val="566644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F83C8-99C3-4493-AD74-E5A98B59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Costs and a rejected shortcut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76DA3-81BB-48AD-879E-E7592E4286E6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4162425"/>
                <a:gridCol w="24765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Input / output tokens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Est. USD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Full 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3,225 / 892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$0.07685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Truncated 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2,774 / 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$0.07294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Identical-result cache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1267C-D204-4A57-800A-93D212DF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5.09% cheaper lost a later requirement.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16047-239E-44AC-B6F3-B06ECBA4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Full text stays the default.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39605-0C5A-4752-A21D-344FB988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Assumed monthly model cost: $1.30/user; $130 at 100 users; $13,010 at 10,000. Hosting excluded.</a:t>
            </a:r>
          </a:p>
        </p:txBody>
      </p:sp>
    </p:spTree>
    <p:extLst>
      <p:ext uri="{BB962C8B-B14F-4D97-AF65-F5344CB8AC3E}">
        <p14:creationId xmlns:p14="http://schemas.microsoft.com/office/powerpoint/2010/main" val="16923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94AD5-1E4F-484A-8E55-3AA95A7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Review is a real boundary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37A82-A3B4-4C6A-8128-751A312B6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cfccb0a074a62"/>
          <a:stretch xmlns:a="http://schemas.openxmlformats.org/drawingml/2006/main"/>
        </p:blipFill>
        <p:spPr>
          <a:xfrm xmlns:a="http://schemas.openxmlformats.org/drawingml/2006/main">
            <a:off x="681990" y="1562100"/>
            <a:ext cx="5760720" cy="42005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114C6-DD80-4DA8-9836-29664EDD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4476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13 fields filled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8F7C8-6134-43AA-A171-0DA80FD6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447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Fictional demo: contact, work history, education and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1D0C2-8ED6-4DE9-8D1B-3904DEA3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005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0 agreements accepted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9C2A5-F693-4A46-92EE-3699E873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72050"/>
            <a:ext cx="4476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No signature.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No application submitted.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0E667-459D-4792-A4C7-F8FA4FA4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Unknown dates, legal-name questions, sensitive answers and unsupported controls stay manual.</a:t>
            </a:r>
          </a:p>
        </p:txBody>
      </p:sp>
    </p:spTree>
    <p:extLst>
      <p:ext uri="{BB962C8B-B14F-4D97-AF65-F5344CB8AC3E}">
        <p14:creationId xmlns:p14="http://schemas.microsoft.com/office/powerpoint/2010/main" val="871617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F7FFC-CEC8-4FA7-8EC9-DE51E35E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A real resume exposed a defect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0EA55-D8E8-420B-9805-C33A0DA114A5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581275"/>
                <a:gridCol w="2581275"/>
              </a:tblGrid>
              <a:tr h="698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Fictional regression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Correct language entries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1 of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3 of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Legal-name question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Display name filled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Left manual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D4F71-DA73-4740-B54D-0A21A4B5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156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12 supported fields filled in the private local practice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E9DCE-1E8A-40C8-A4B7-81FCCF56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1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No resume text sent to a model or employer.</a:t>
            </a:r>
          </a:p>
          <a:p xmlns:a="http://schemas.openxmlformats.org/drawingml/2006/main">
            <a:pPr>
              <a:defRPr sz="20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No claim of a human time saving or live Workday completion.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74B76-8C68-4A30-85AF-61D18F73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The repeated-entry fixture preserved 17 fields; the raw resume and personal screenshots stay private.</a:t>
            </a:r>
          </a:p>
        </p:txBody>
      </p:sp>
    </p:spTree>
    <p:extLst>
      <p:ext uri="{BB962C8B-B14F-4D97-AF65-F5344CB8AC3E}">
        <p14:creationId xmlns:p14="http://schemas.microsoft.com/office/powerpoint/2010/main" val="1742516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F06F5-8AE9-4778-9C8E-14F1EBB7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The next evidence to 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59C09-9331-4350-8E54-AC755EDC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156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01   Observe a real applicant and measure the task.</a:t>
            </a:r>
          </a:p>
          <a:p xmlns:a="http://schemas.openxmlformats.org/drawingml/2006/main">
            <a: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02   Verify one permitted employer form before submission.</a:t>
            </a:r>
          </a:p>
          <a:p xmlns:a="http://schemas.openxmlformats.org/drawingml/2006/main">
            <a: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03   Improve matching with labeled near-miss roles.</a:t>
            </a:r>
          </a:p>
          <a:p xmlns:a="http://schemas.openxmlformats.org/drawingml/2006/main">
            <a: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04   Confirm the allowed account; publish reviewed source.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69D50-52F2-44F0-86DD-E0FF1CB6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1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Local materials are prepared. Nothing is published.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5CFC5-2789-45B4-88AF-A8AAC1F0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Astra is user-selected; the brief permits only Luna on the course key. Account permission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688637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2026-10-25T15:52:43.8970000Z</dcterms:created>
  <dcterms:modified xsi:type="dcterms:W3CDTF">2026-10-25T15:52:43.8970000Z</dcterms:modified>
</coreProperties>
</file>